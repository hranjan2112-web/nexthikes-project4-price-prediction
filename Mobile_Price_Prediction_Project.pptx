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9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2400">
          <p15:clr>
            <a:srgbClr val="A4A3A4"/>
          </p15:clr>
        </p15:guide>
        <p15:guide id="4" pos="57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862444-7E6D-4960-BA1F-20EDFDC461DC}" v="432" dt="2026-03-29T06:11:13.1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>
        <p:scale>
          <a:sx n="100" d="100"/>
          <a:sy n="100" d="100"/>
        </p:scale>
        <p:origin x="-77" y="-499"/>
      </p:cViewPr>
      <p:guideLst>
        <p:guide pos="3840"/>
        <p:guide orient="horz" pos="2400"/>
        <p:guide pos="57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 title="Page Number Shape">
            <a:extLst>
              <a:ext uri="{FF2B5EF4-FFF2-40B4-BE49-F238E27FC236}">
                <a16:creationId xmlns:a16="http://schemas.microsoft.com/office/drawing/2014/main" id="{DD4C4B28-6B4B-4445-8535-F516D74E4AA9}"/>
              </a:ext>
            </a:extLst>
          </p:cNvPr>
          <p:cNvSpPr/>
          <p:nvPr/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2" name="Straight Connector 11" title="Verticle Rule Line">
            <a:extLst>
              <a:ext uri="{FF2B5EF4-FFF2-40B4-BE49-F238E27FC236}">
                <a16:creationId xmlns:a16="http://schemas.microsoft.com/office/drawing/2014/main" id="{0CB1C732-7193-4253-8746-850D090A6B4E}"/>
              </a:ext>
            </a:extLst>
          </p:cNvPr>
          <p:cNvCxnSpPr>
            <a:cxnSpLocks/>
          </p:cNvCxnSpPr>
          <p:nvPr/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03AA199-952B-427F-A5BE-B97D25FD0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143000"/>
            <a:ext cx="6720840" cy="3730752"/>
          </a:xfrm>
        </p:spPr>
        <p:txBody>
          <a:bodyPr anchor="t">
            <a:normAutofit/>
          </a:bodyPr>
          <a:lstStyle>
            <a:lvl1pPr algn="l"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AA393-A876-475F-A05B-1CCAB6C1F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5010912"/>
            <a:ext cx="6720840" cy="70408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95621-D631-4F31-AEEF-C8574E50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86356" y="6007608"/>
            <a:ext cx="3143643" cy="365125"/>
          </a:xfrm>
        </p:spPr>
        <p:txBody>
          <a:bodyPr/>
          <a:lstStyle/>
          <a:p>
            <a:fld id="{53BEF823-48A5-43FC-BE03-E79964288B41}" type="datetimeFigureOut">
              <a:rPr lang="en-US" smtClean="0"/>
              <a:t>3/28/2026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EE125-77AD-4E23-AFB7-C5CFDEAC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8991" y="6007608"/>
            <a:ext cx="672083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69682-B530-4F52-87B9-39464A09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5745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51BD-5252-4168-A69E-C6864AE2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48EEE-19C9-493B-836D-73B9E4A0B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A6BFE-11ED-4FB4-9F65-508B5B0F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F536E-BEFF-4E0D-B4EC-39DE28C6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E02AF-6FE1-4972-BD48-A82499AD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511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52EE-D9FC-4E51-9BFF-141F9192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051" y="2414016"/>
            <a:ext cx="10666949" cy="3099816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086C4-4949-4E7A-A182-6709496A1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1389888"/>
            <a:ext cx="10671048" cy="822960"/>
          </a:xfrm>
        </p:spPr>
        <p:txBody>
          <a:bodyPr anchor="ctr">
            <a:normAutofit/>
          </a:bodyPr>
          <a:lstStyle>
            <a:lvl1pPr marL="0" indent="0">
              <a:buNone/>
              <a:defRPr sz="20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2BC88-6A2B-4851-9568-23A4B74D9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82CFE5-65C3-4F46-9141-46454559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1B390-4E13-4481-AC02-FF126656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259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E02F8-47BB-4D30-8EFE-69C9222D9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84648" y="758952"/>
            <a:ext cx="6245352" cy="224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44D33-6BF0-4205-A542-8537E3515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4647" y="3273551"/>
            <a:ext cx="6245351" cy="2240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6953A83-D2BE-4015-8D64-BE93DDFE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3/28/2026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A849E67-05F9-4033-B033-74D6B8C8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AAC6AA-CFFB-438F-9327-DDB023E2E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4960CB-ABA7-4442-AB15-FE444F23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4871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48291-9C7D-407E-8D07-FA3A323EA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192D2-8BA6-4A4D-814D-AD37A2A10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0323" y="1377198"/>
            <a:ext cx="6239675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FD4BC-C948-41C4-BA24-5D26147E1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84647" y="3319548"/>
            <a:ext cx="6245351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2E359C-F73D-4F1B-9F9A-6D6285671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84646" y="3932372"/>
            <a:ext cx="6245352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76B63AE-38FF-40DD-A543-32DD98E6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686C0EB-E082-4BAB-99E8-B42F3C28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3/28/2026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3CB0152-BA1F-48C7-A66F-3ADB51C9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D1C21B3-5CF6-415F-8295-EED3DF5C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950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70D5-4EB9-4410-A8AE-6D85F192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87FB59-BA77-4864-B9E8-99485125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3/28/2026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F0BC0B-BA67-455B-B567-1473DF062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F0BCF3-6FB5-4529-AA6A-A31467351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831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1315B-6865-4A5A-91C1-B7533903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36720-08C7-43DE-8EB5-CAB52D0E9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477AF-B012-491C-AE42-22DE1203B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419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183AC-72A9-43F5-A1B3-1D7A6A4C7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58951"/>
            <a:ext cx="6245352" cy="475488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45592-52ED-4270-ACBB-BCC528DAC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3" y="3815080"/>
            <a:ext cx="3831336" cy="169875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9A93518-F9B5-418F-9883-BEF8359B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3/28/2026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7B9FFE7-C4AB-425B-9B56-E412C722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9231052-EBA8-4781-B28A-2FEA8BE52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BF9E7-F686-4FA1-9BA5-69BDD014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30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382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6CF06-B27C-4DC4-981D-38E31997B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758951"/>
            <a:ext cx="6245352" cy="4754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76E66-2CB3-4F47-97F6-077C42818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2" y="3794760"/>
            <a:ext cx="3831336" cy="1719072"/>
          </a:xfrm>
        </p:spPr>
        <p:txBody>
          <a:bodyPr>
            <a:normAutofit/>
          </a:bodyPr>
          <a:lstStyle>
            <a:lvl1pPr marL="0" indent="0">
              <a:buNone/>
              <a:defRPr sz="20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414C9F-CBBD-4D5E-A831-BC0CDFEB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3/28/2026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58DC0C8-B580-442D-8DAC-4F0F869B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B0D29E8-DFEE-49AB-83AF-85FF2525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AAF1B-6B6E-4D37-8F57-E403C6371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26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902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59FCF-ACDF-495D-ACFA-15FCAC9EA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786E3-AB17-427E-8EF8-7FCB671A1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33B4E9-7A16-448C-8BE6-B14941A34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212F5-5835-49FF-836F-5E3008A0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9D492B-E5EE-4D24-A087-57D739CF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050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31E395-94BD-4E79-8E42-9CD4EB33CA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75542" y="758952"/>
            <a:ext cx="2954458" cy="49860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AA8A4-66BC-4E80-ABE3-F533F82B8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8952" y="758952"/>
            <a:ext cx="7407586" cy="49860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DA4EA6-6A1A-48ED-9D79-A438561C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3/28/2026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9B2BA-9250-4EBF-8820-10BDA5C1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914475-55F3-4C46-BAE2-E4D93E9E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5407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1F1F1F-529D-951D-8998-9FD228680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F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B7C80C7-9901-8D58-5EFA-FDA2F7C04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9106" y="-1"/>
            <a:ext cx="8421072" cy="6858000"/>
          </a:xfrm>
          <a:custGeom>
            <a:avLst/>
            <a:gdLst>
              <a:gd name="connsiteX0" fmla="*/ 0 w 8398619"/>
              <a:gd name="connsiteY0" fmla="*/ 0 h 6858000"/>
              <a:gd name="connsiteX1" fmla="*/ 8398619 w 8398619"/>
              <a:gd name="connsiteY1" fmla="*/ 0 h 6858000"/>
              <a:gd name="connsiteX2" fmla="*/ 8398619 w 8398619"/>
              <a:gd name="connsiteY2" fmla="*/ 6858000 h 6858000"/>
              <a:gd name="connsiteX3" fmla="*/ 0 w 8398619"/>
              <a:gd name="connsiteY3" fmla="*/ 6858000 h 6858000"/>
              <a:gd name="connsiteX4" fmla="*/ 0 w 8398619"/>
              <a:gd name="connsiteY4" fmla="*/ 0 h 6858000"/>
              <a:gd name="connsiteX0" fmla="*/ 0 w 8403036"/>
              <a:gd name="connsiteY0" fmla="*/ 0 h 6858000"/>
              <a:gd name="connsiteX1" fmla="*/ 8398619 w 8403036"/>
              <a:gd name="connsiteY1" fmla="*/ 0 h 6858000"/>
              <a:gd name="connsiteX2" fmla="*/ 8398619 w 8403036"/>
              <a:gd name="connsiteY2" fmla="*/ 6858000 h 6858000"/>
              <a:gd name="connsiteX3" fmla="*/ 0 w 8403036"/>
              <a:gd name="connsiteY3" fmla="*/ 6858000 h 6858000"/>
              <a:gd name="connsiteX4" fmla="*/ 0 w 8403036"/>
              <a:gd name="connsiteY4" fmla="*/ 0 h 6858000"/>
              <a:gd name="connsiteX0" fmla="*/ 0 w 8421760"/>
              <a:gd name="connsiteY0" fmla="*/ 0 h 6858000"/>
              <a:gd name="connsiteX1" fmla="*/ 8398619 w 8421760"/>
              <a:gd name="connsiteY1" fmla="*/ 0 h 6858000"/>
              <a:gd name="connsiteX2" fmla="*/ 8419802 w 8421760"/>
              <a:gd name="connsiteY2" fmla="*/ 6858000 h 6858000"/>
              <a:gd name="connsiteX3" fmla="*/ 0 w 8421760"/>
              <a:gd name="connsiteY3" fmla="*/ 6858000 h 6858000"/>
              <a:gd name="connsiteX4" fmla="*/ 0 w 8421760"/>
              <a:gd name="connsiteY4" fmla="*/ 0 h 6858000"/>
              <a:gd name="connsiteX0" fmla="*/ 0 w 8421072"/>
              <a:gd name="connsiteY0" fmla="*/ 0 h 6858000"/>
              <a:gd name="connsiteX1" fmla="*/ 8398619 w 8421072"/>
              <a:gd name="connsiteY1" fmla="*/ 0 h 6858000"/>
              <a:gd name="connsiteX2" fmla="*/ 8419802 w 8421072"/>
              <a:gd name="connsiteY2" fmla="*/ 6858000 h 6858000"/>
              <a:gd name="connsiteX3" fmla="*/ 0 w 8421072"/>
              <a:gd name="connsiteY3" fmla="*/ 6858000 h 6858000"/>
              <a:gd name="connsiteX4" fmla="*/ 0 w 842107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21072" h="6858000">
                <a:moveTo>
                  <a:pt x="0" y="0"/>
                </a:moveTo>
                <a:lnTo>
                  <a:pt x="8398619" y="0"/>
                </a:lnTo>
                <a:cubicBezTo>
                  <a:pt x="8377436" y="2261287"/>
                  <a:pt x="8429741" y="4666422"/>
                  <a:pt x="8419802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5CFCDD4-34E8-AC06-3D5E-32D562BE7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785834" y="2229288"/>
            <a:ext cx="842879" cy="8414546"/>
          </a:xfrm>
          <a:custGeom>
            <a:avLst/>
            <a:gdLst>
              <a:gd name="connsiteX0" fmla="*/ 0 w 842879"/>
              <a:gd name="connsiteY0" fmla="*/ 8414546 h 8414546"/>
              <a:gd name="connsiteX1" fmla="*/ 5570 w 842879"/>
              <a:gd name="connsiteY1" fmla="*/ 7654963 h 8414546"/>
              <a:gd name="connsiteX2" fmla="*/ 24941 w 842879"/>
              <a:gd name="connsiteY2" fmla="*/ 4078 h 8414546"/>
              <a:gd name="connsiteX3" fmla="*/ 639284 w 842879"/>
              <a:gd name="connsiteY3" fmla="*/ 0 h 8414546"/>
              <a:gd name="connsiteX4" fmla="*/ 842879 w 842879"/>
              <a:gd name="connsiteY4" fmla="*/ 111 h 8414546"/>
              <a:gd name="connsiteX5" fmla="*/ 842878 w 842879"/>
              <a:gd name="connsiteY5" fmla="*/ 8414546 h 8414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2879" h="8414546">
                <a:moveTo>
                  <a:pt x="0" y="8414546"/>
                </a:moveTo>
                <a:lnTo>
                  <a:pt x="5570" y="7654963"/>
                </a:lnTo>
                <a:cubicBezTo>
                  <a:pt x="19055" y="5120132"/>
                  <a:pt x="912" y="2515713"/>
                  <a:pt x="24941" y="4078"/>
                </a:cubicBezTo>
                <a:cubicBezTo>
                  <a:pt x="194402" y="2356"/>
                  <a:pt x="409219" y="577"/>
                  <a:pt x="639284" y="0"/>
                </a:cubicBezTo>
                <a:lnTo>
                  <a:pt x="842879" y="111"/>
                </a:lnTo>
                <a:lnTo>
                  <a:pt x="842878" y="8414546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F538DF1-F279-6FD3-54B3-F49AECD5C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V="1">
            <a:off x="2804041" y="221724"/>
            <a:ext cx="2812833" cy="8420912"/>
          </a:xfrm>
          <a:custGeom>
            <a:avLst/>
            <a:gdLst>
              <a:gd name="connsiteX0" fmla="*/ 2812026 w 2812833"/>
              <a:gd name="connsiteY0" fmla="*/ 7515587 h 8420912"/>
              <a:gd name="connsiteX1" fmla="*/ 2737038 w 2812833"/>
              <a:gd name="connsiteY1" fmla="*/ 32353 h 8420912"/>
              <a:gd name="connsiteX2" fmla="*/ 78161 w 2812833"/>
              <a:gd name="connsiteY2" fmla="*/ 35255 h 8420912"/>
              <a:gd name="connsiteX3" fmla="*/ 10482 w 2812833"/>
              <a:gd name="connsiteY3" fmla="*/ 7540713 h 8420912"/>
              <a:gd name="connsiteX4" fmla="*/ 37139 w 2812833"/>
              <a:gd name="connsiteY4" fmla="*/ 8420912 h 8420912"/>
              <a:gd name="connsiteX5" fmla="*/ 2802613 w 2812833"/>
              <a:gd name="connsiteY5" fmla="*/ 8420912 h 8420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12833" h="8420912">
                <a:moveTo>
                  <a:pt x="2812026" y="7515587"/>
                </a:moveTo>
                <a:cubicBezTo>
                  <a:pt x="2822175" y="5045078"/>
                  <a:pt x="2733216" y="2526060"/>
                  <a:pt x="2737038" y="32353"/>
                </a:cubicBezTo>
                <a:cubicBezTo>
                  <a:pt x="1850745" y="33321"/>
                  <a:pt x="964454" y="-42841"/>
                  <a:pt x="78161" y="35255"/>
                </a:cubicBezTo>
                <a:cubicBezTo>
                  <a:pt x="80974" y="2508834"/>
                  <a:pt x="-34699" y="5179609"/>
                  <a:pt x="10482" y="7540713"/>
                </a:cubicBezTo>
                <a:lnTo>
                  <a:pt x="37139" y="8420912"/>
                </a:lnTo>
                <a:lnTo>
                  <a:pt x="2802613" y="8420912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CE14AE4-9B80-2D91-30D5-79C8F7316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2736189" y="-2736188"/>
            <a:ext cx="2922005" cy="8394383"/>
          </a:xfrm>
          <a:custGeom>
            <a:avLst/>
            <a:gdLst>
              <a:gd name="connsiteX0" fmla="*/ 0 w 2922005"/>
              <a:gd name="connsiteY0" fmla="*/ 8394383 h 8394383"/>
              <a:gd name="connsiteX1" fmla="*/ 0 w 2922005"/>
              <a:gd name="connsiteY1" fmla="*/ 0 h 8394383"/>
              <a:gd name="connsiteX2" fmla="*/ 2829789 w 2922005"/>
              <a:gd name="connsiteY2" fmla="*/ 0 h 8394383"/>
              <a:gd name="connsiteX3" fmla="*/ 2906758 w 2922005"/>
              <a:gd name="connsiteY3" fmla="*/ 7554515 h 8394383"/>
              <a:gd name="connsiteX4" fmla="*/ 2922005 w 2922005"/>
              <a:gd name="connsiteY4" fmla="*/ 8394383 h 839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22005" h="8394383">
                <a:moveTo>
                  <a:pt x="0" y="8394383"/>
                </a:moveTo>
                <a:lnTo>
                  <a:pt x="0" y="0"/>
                </a:lnTo>
                <a:lnTo>
                  <a:pt x="2829789" y="0"/>
                </a:lnTo>
                <a:cubicBezTo>
                  <a:pt x="2924189" y="2274966"/>
                  <a:pt x="2873866" y="4980111"/>
                  <a:pt x="2906758" y="7554515"/>
                </a:cubicBezTo>
                <a:lnTo>
                  <a:pt x="2922005" y="839438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CF8DFF4-76F9-31A0-19A9-5C48DBA84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8699709" y="-195066"/>
            <a:ext cx="3160696" cy="3823883"/>
          </a:xfrm>
          <a:custGeom>
            <a:avLst/>
            <a:gdLst>
              <a:gd name="connsiteX0" fmla="*/ 0 w 3160696"/>
              <a:gd name="connsiteY0" fmla="*/ 251594 h 3823883"/>
              <a:gd name="connsiteX1" fmla="*/ 19545 w 3160696"/>
              <a:gd name="connsiteY1" fmla="*/ 32798 h 3823883"/>
              <a:gd name="connsiteX2" fmla="*/ 21253 w 3160696"/>
              <a:gd name="connsiteY2" fmla="*/ 0 h 3823883"/>
              <a:gd name="connsiteX3" fmla="*/ 3160696 w 3160696"/>
              <a:gd name="connsiteY3" fmla="*/ 0 h 3823883"/>
              <a:gd name="connsiteX4" fmla="*/ 3127107 w 3160696"/>
              <a:gd name="connsiteY4" fmla="*/ 3785562 h 3823883"/>
              <a:gd name="connsiteX5" fmla="*/ 85393 w 3160696"/>
              <a:gd name="connsiteY5" fmla="*/ 3810651 h 3823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60696" h="3823883">
                <a:moveTo>
                  <a:pt x="0" y="251594"/>
                </a:moveTo>
                <a:cubicBezTo>
                  <a:pt x="18741" y="248115"/>
                  <a:pt x="16523" y="125574"/>
                  <a:pt x="19545" y="32798"/>
                </a:cubicBezTo>
                <a:lnTo>
                  <a:pt x="21253" y="0"/>
                </a:lnTo>
                <a:lnTo>
                  <a:pt x="3160696" y="0"/>
                </a:lnTo>
                <a:lnTo>
                  <a:pt x="3127107" y="3785562"/>
                </a:lnTo>
                <a:cubicBezTo>
                  <a:pt x="2108547" y="3830647"/>
                  <a:pt x="1215662" y="3831666"/>
                  <a:pt x="85393" y="381065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53BFCF5-9D37-8A22-F17B-F82C331AB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995222" y="4679099"/>
            <a:ext cx="594309" cy="3763494"/>
          </a:xfrm>
          <a:custGeom>
            <a:avLst/>
            <a:gdLst>
              <a:gd name="connsiteX0" fmla="*/ 0 w 594309"/>
              <a:gd name="connsiteY0" fmla="*/ 3758993 h 3763494"/>
              <a:gd name="connsiteX1" fmla="*/ 9335 w 594309"/>
              <a:gd name="connsiteY1" fmla="*/ 0 h 3763494"/>
              <a:gd name="connsiteX2" fmla="*/ 594309 w 594309"/>
              <a:gd name="connsiteY2" fmla="*/ 0 h 3763494"/>
              <a:gd name="connsiteX3" fmla="*/ 594309 w 594309"/>
              <a:gd name="connsiteY3" fmla="*/ 3763494 h 3763494"/>
              <a:gd name="connsiteX4" fmla="*/ 528862 w 594309"/>
              <a:gd name="connsiteY4" fmla="*/ 3762655 h 3763494"/>
              <a:gd name="connsiteX5" fmla="*/ 0 w 594309"/>
              <a:gd name="connsiteY5" fmla="*/ 3758993 h 3763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4309" h="3763494">
                <a:moveTo>
                  <a:pt x="0" y="3758993"/>
                </a:moveTo>
                <a:lnTo>
                  <a:pt x="9335" y="0"/>
                </a:lnTo>
                <a:lnTo>
                  <a:pt x="594309" y="0"/>
                </a:lnTo>
                <a:lnTo>
                  <a:pt x="594309" y="3763494"/>
                </a:lnTo>
                <a:lnTo>
                  <a:pt x="528862" y="3762655"/>
                </a:lnTo>
                <a:cubicBezTo>
                  <a:pt x="353264" y="3760401"/>
                  <a:pt x="177320" y="3758665"/>
                  <a:pt x="0" y="3758993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84818A0-64B3-C900-227E-6697BD355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034320" y="2877097"/>
            <a:ext cx="2526851" cy="3806721"/>
          </a:xfrm>
          <a:custGeom>
            <a:avLst/>
            <a:gdLst>
              <a:gd name="connsiteX0" fmla="*/ 9009 w 2024737"/>
              <a:gd name="connsiteY0" fmla="*/ 1206998 h 1206998"/>
              <a:gd name="connsiteX1" fmla="*/ 0 w 2024737"/>
              <a:gd name="connsiteY1" fmla="*/ 0 h 1206998"/>
              <a:gd name="connsiteX2" fmla="*/ 2014447 w 2024737"/>
              <a:gd name="connsiteY2" fmla="*/ 0 h 1206998"/>
              <a:gd name="connsiteX3" fmla="*/ 2024737 w 2024737"/>
              <a:gd name="connsiteY3" fmla="*/ 1143134 h 1206998"/>
              <a:gd name="connsiteX0" fmla="*/ 9009 w 2028993"/>
              <a:gd name="connsiteY0" fmla="*/ 1308367 h 1308367"/>
              <a:gd name="connsiteX1" fmla="*/ 0 w 2028993"/>
              <a:gd name="connsiteY1" fmla="*/ 101369 h 1308367"/>
              <a:gd name="connsiteX2" fmla="*/ 2028993 w 2028993"/>
              <a:gd name="connsiteY2" fmla="*/ 0 h 1308367"/>
              <a:gd name="connsiteX3" fmla="*/ 2024737 w 2028993"/>
              <a:gd name="connsiteY3" fmla="*/ 1244503 h 1308367"/>
              <a:gd name="connsiteX4" fmla="*/ 9009 w 2028993"/>
              <a:gd name="connsiteY4" fmla="*/ 1308367 h 1308367"/>
              <a:gd name="connsiteX0" fmla="*/ 81737 w 2101721"/>
              <a:gd name="connsiteY0" fmla="*/ 1308367 h 1308367"/>
              <a:gd name="connsiteX1" fmla="*/ 0 w 2101721"/>
              <a:gd name="connsiteY1" fmla="*/ 0 h 1308367"/>
              <a:gd name="connsiteX2" fmla="*/ 2101721 w 2101721"/>
              <a:gd name="connsiteY2" fmla="*/ 0 h 1308367"/>
              <a:gd name="connsiteX3" fmla="*/ 2097465 w 2101721"/>
              <a:gd name="connsiteY3" fmla="*/ 1244503 h 1308367"/>
              <a:gd name="connsiteX4" fmla="*/ 81737 w 2101721"/>
              <a:gd name="connsiteY4" fmla="*/ 1308367 h 1308367"/>
              <a:gd name="connsiteX0" fmla="*/ 81737 w 2128000"/>
              <a:gd name="connsiteY0" fmla="*/ 1308367 h 1308367"/>
              <a:gd name="connsiteX1" fmla="*/ 0 w 2128000"/>
              <a:gd name="connsiteY1" fmla="*/ 0 h 1308367"/>
              <a:gd name="connsiteX2" fmla="*/ 2101721 w 2128000"/>
              <a:gd name="connsiteY2" fmla="*/ 0 h 1308367"/>
              <a:gd name="connsiteX3" fmla="*/ 2097465 w 2128000"/>
              <a:gd name="connsiteY3" fmla="*/ 1244503 h 1308367"/>
              <a:gd name="connsiteX4" fmla="*/ 81737 w 2128000"/>
              <a:gd name="connsiteY4" fmla="*/ 1308367 h 1308367"/>
              <a:gd name="connsiteX0" fmla="*/ 81737 w 2167180"/>
              <a:gd name="connsiteY0" fmla="*/ 1308367 h 1308367"/>
              <a:gd name="connsiteX1" fmla="*/ 0 w 2167180"/>
              <a:gd name="connsiteY1" fmla="*/ 0 h 1308367"/>
              <a:gd name="connsiteX2" fmla="*/ 2167180 w 2167180"/>
              <a:gd name="connsiteY2" fmla="*/ 0 h 1308367"/>
              <a:gd name="connsiteX3" fmla="*/ 2097465 w 2167180"/>
              <a:gd name="connsiteY3" fmla="*/ 1244503 h 1308367"/>
              <a:gd name="connsiteX4" fmla="*/ 81737 w 2167180"/>
              <a:gd name="connsiteY4" fmla="*/ 1308367 h 1308367"/>
              <a:gd name="connsiteX0" fmla="*/ 0 w 2170615"/>
              <a:gd name="connsiteY0" fmla="*/ 1264399 h 1264399"/>
              <a:gd name="connsiteX1" fmla="*/ 3435 w 2170615"/>
              <a:gd name="connsiteY1" fmla="*/ 0 h 1264399"/>
              <a:gd name="connsiteX2" fmla="*/ 2170615 w 2170615"/>
              <a:gd name="connsiteY2" fmla="*/ 0 h 1264399"/>
              <a:gd name="connsiteX3" fmla="*/ 2100900 w 2170615"/>
              <a:gd name="connsiteY3" fmla="*/ 1244503 h 1264399"/>
              <a:gd name="connsiteX4" fmla="*/ 0 w 2170615"/>
              <a:gd name="connsiteY4" fmla="*/ 1264399 h 1264399"/>
              <a:gd name="connsiteX0" fmla="*/ 0 w 2170615"/>
              <a:gd name="connsiteY0" fmla="*/ 1264399 h 1264399"/>
              <a:gd name="connsiteX1" fmla="*/ 3435 w 2170615"/>
              <a:gd name="connsiteY1" fmla="*/ 0 h 1264399"/>
              <a:gd name="connsiteX2" fmla="*/ 2170615 w 2170615"/>
              <a:gd name="connsiteY2" fmla="*/ 0 h 1264399"/>
              <a:gd name="connsiteX3" fmla="*/ 2100903 w 2170615"/>
              <a:gd name="connsiteY3" fmla="*/ 1259159 h 1264399"/>
              <a:gd name="connsiteX4" fmla="*/ 0 w 2170615"/>
              <a:gd name="connsiteY4" fmla="*/ 1264399 h 1264399"/>
              <a:gd name="connsiteX0" fmla="*/ 0 w 2170615"/>
              <a:gd name="connsiteY0" fmla="*/ 1264399 h 1266019"/>
              <a:gd name="connsiteX1" fmla="*/ 3435 w 2170615"/>
              <a:gd name="connsiteY1" fmla="*/ 0 h 1266019"/>
              <a:gd name="connsiteX2" fmla="*/ 2170615 w 2170615"/>
              <a:gd name="connsiteY2" fmla="*/ 0 h 1266019"/>
              <a:gd name="connsiteX3" fmla="*/ 2100903 w 2170615"/>
              <a:gd name="connsiteY3" fmla="*/ 1259159 h 1266019"/>
              <a:gd name="connsiteX4" fmla="*/ 0 w 2170615"/>
              <a:gd name="connsiteY4" fmla="*/ 1264399 h 1266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70615" h="1266019">
                <a:moveTo>
                  <a:pt x="0" y="1264399"/>
                </a:moveTo>
                <a:lnTo>
                  <a:pt x="3435" y="0"/>
                </a:lnTo>
                <a:lnTo>
                  <a:pt x="2170615" y="0"/>
                </a:lnTo>
                <a:cubicBezTo>
                  <a:pt x="2169196" y="414834"/>
                  <a:pt x="2167782" y="728877"/>
                  <a:pt x="2100903" y="1259159"/>
                </a:cubicBezTo>
                <a:cubicBezTo>
                  <a:pt x="1315430" y="1271897"/>
                  <a:pt x="700301" y="1262652"/>
                  <a:pt x="0" y="1264399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512064"/>
            <a:ext cx="6382511" cy="378175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064" y="4754880"/>
            <a:ext cx="5583936" cy="91199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30000"/>
              </a:lnSpc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6A65EFB-173C-417D-98F7-5A1345289076}" type="datetime1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37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 title="Page Number Shape">
            <a:extLst>
              <a:ext uri="{FF2B5EF4-FFF2-40B4-BE49-F238E27FC236}">
                <a16:creationId xmlns:a16="http://schemas.microsoft.com/office/drawing/2014/main" id="{72411438-92A5-42B0-9C54-EA4FB32ACB5E}"/>
              </a:ext>
            </a:extLst>
          </p:cNvPr>
          <p:cNvSpPr/>
          <p:nvPr/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56E4D8-47B6-4DEC-BD29-B3B6ED4CC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F5D4C-4873-4052-A294-99CCB9421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4754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D62B3-3490-46B4-A10E-33FCE4A1F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r"/>
            <a:fld id="{53BEF823-48A5-43FC-BE03-E79964288B41}" type="datetimeFigureOut">
              <a:rPr lang="en-US" smtClean="0"/>
              <a:pPr algn="r"/>
              <a:t>3/28/2026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4CB1-7D5F-4F52-9F99-7068F5819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F9CC9-1431-4569-B2F1-D04814955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331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5" r:id="rId2"/>
    <p:sldLayoutId id="2147483916" r:id="rId3"/>
    <p:sldLayoutId id="2147483917" r:id="rId4"/>
    <p:sldLayoutId id="2147483918" r:id="rId5"/>
    <p:sldLayoutId id="2147483907" r:id="rId6"/>
    <p:sldLayoutId id="2147483913" r:id="rId7"/>
    <p:sldLayoutId id="2147483908" r:id="rId8"/>
    <p:sldLayoutId id="2147483909" r:id="rId9"/>
    <p:sldLayoutId id="2147483910" r:id="rId10"/>
    <p:sldLayoutId id="2147483911" r:id="rId11"/>
    <p:sldLayoutId id="21474839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i="1" kern="1200" spc="1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8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>
            <a:extLst>
              <a:ext uri="{FF2B5EF4-FFF2-40B4-BE49-F238E27FC236}">
                <a16:creationId xmlns:a16="http://schemas.microsoft.com/office/drawing/2014/main" id="{72411438-92A5-42B0-9C54-EA4FB32AC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DB3D4B9-7168-A4F8-49FB-7DCB52546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952" y="758952"/>
            <a:ext cx="8321040" cy="19527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i="1" kern="1200" spc="1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Mobile Price Prediction Project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EF97C72-3F89-4F0A-9629-01818B389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8503" y="2936674"/>
            <a:ext cx="836524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ubtitle 5">
            <a:extLst>
              <a:ext uri="{FF2B5EF4-FFF2-40B4-BE49-F238E27FC236}">
                <a16:creationId xmlns:a16="http://schemas.microsoft.com/office/drawing/2014/main" id="{785721AD-F792-487E-A0B4-DF1E774754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825" y="3161680"/>
            <a:ext cx="8321167" cy="2620409"/>
          </a:xfrm>
        </p:spPr>
        <p:txBody>
          <a:bodyPr vert="horz" lIns="91440" tIns="45720" rIns="91440" bIns="45720" rtlCol="0">
            <a:normAutofit/>
          </a:bodyPr>
          <a:lstStyle/>
          <a:p>
            <a:pPr marL="18288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Feature Extraction &amp; Analysis </a:t>
            </a:r>
          </a:p>
          <a:p>
            <a:pPr marL="18288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Your Name: Harsh Ranjan </a:t>
            </a:r>
          </a:p>
          <a:p>
            <a:pPr marL="18288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Date : 29/3/2026</a:t>
            </a:r>
          </a:p>
          <a:p>
            <a:pPr marL="182880">
              <a:lnSpc>
                <a:spcPct val="110000"/>
              </a:lnSpc>
            </a:pP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817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DFE6F-20A1-EB4E-452A-610A59CF9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205" y="1681324"/>
            <a:ext cx="11770871" cy="3490585"/>
          </a:xfrm>
        </p:spPr>
        <p:txBody>
          <a:bodyPr>
            <a:normAutofit/>
          </a:bodyPr>
          <a:lstStyle/>
          <a:p>
            <a:pPr marL="857250" indent="-857250">
              <a:buFont typeface="Arial"/>
              <a:buChar char="•"/>
            </a:pPr>
            <a:r>
              <a:rPr lang="en-US" sz="2400" i="0" dirty="0">
                <a:ea typeface="+mj-lt"/>
                <a:cs typeface="+mj-lt"/>
              </a:rPr>
              <a:t>Predict mobile phone prices using ML models </a:t>
            </a:r>
            <a:br>
              <a:rPr lang="en-US" sz="2400" i="0" dirty="0">
                <a:ea typeface="+mj-lt"/>
                <a:cs typeface="+mj-lt"/>
              </a:rPr>
            </a:br>
            <a:endParaRPr lang="en-US"/>
          </a:p>
          <a:p>
            <a:pPr marL="857250" indent="-857250">
              <a:buFont typeface="Arial"/>
              <a:buChar char="•"/>
            </a:pPr>
            <a:r>
              <a:rPr lang="en-US" sz="2400" i="0" dirty="0">
                <a:ea typeface="+mj-lt"/>
                <a:cs typeface="+mj-lt"/>
              </a:rPr>
              <a:t>Identify key features affecting price </a:t>
            </a:r>
            <a:br>
              <a:rPr lang="en-US" dirty="0"/>
            </a:br>
            <a:br>
              <a:rPr lang="en-US" dirty="0"/>
            </a:br>
            <a:endParaRPr lang="en-US" sz="2400"/>
          </a:p>
          <a:p>
            <a:pPr marL="857250" indent="-857250">
              <a:buFont typeface="Arial"/>
              <a:buChar char="•"/>
            </a:pPr>
            <a:r>
              <a:rPr lang="en-US" sz="2400" i="0">
                <a:ea typeface="+mj-lt"/>
                <a:cs typeface="+mj-lt"/>
              </a:rPr>
              <a:t>Help company improve pricing strategy</a:t>
            </a:r>
            <a:endParaRPr lang="en-US" sz="2400"/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E46DE1-2A13-D85D-A6A6-AF42B4043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183" y="364119"/>
            <a:ext cx="10671048" cy="822960"/>
          </a:xfrm>
        </p:spPr>
        <p:txBody>
          <a:bodyPr>
            <a:normAutofit/>
          </a:bodyPr>
          <a:lstStyle/>
          <a:p>
            <a:pPr algn="ctr"/>
            <a:r>
              <a:rPr lang="en-US" sz="2800" b="1" i="0">
                <a:ea typeface="+mn-lt"/>
                <a:cs typeface="+mn-lt"/>
              </a:rPr>
              <a:t>Project Objective</a:t>
            </a:r>
            <a:endParaRPr lang="en-US" sz="2800" b="1"/>
          </a:p>
        </p:txBody>
      </p:sp>
    </p:spTree>
    <p:extLst>
      <p:ext uri="{BB962C8B-B14F-4D97-AF65-F5344CB8AC3E}">
        <p14:creationId xmlns:p14="http://schemas.microsoft.com/office/powerpoint/2010/main" val="4065038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A6C00-35BD-7FE7-061D-CFC93112D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128" y="1398016"/>
            <a:ext cx="10666949" cy="3099816"/>
          </a:xfrm>
        </p:spPr>
        <p:txBody>
          <a:bodyPr>
            <a:normAutofit/>
          </a:bodyPr>
          <a:lstStyle/>
          <a:p>
            <a:r>
              <a:rPr lang="en-US" sz="2400" i="0">
                <a:ea typeface="+mj-lt"/>
                <a:cs typeface="+mj-lt"/>
              </a:rPr>
              <a:t>Total records: 541 </a:t>
            </a:r>
            <a:endParaRPr lang="en-US" sz="2400"/>
          </a:p>
          <a:p>
            <a:r>
              <a:rPr lang="en-US" sz="2400" i="0">
                <a:ea typeface="+mj-lt"/>
                <a:cs typeface="+mj-lt"/>
              </a:rPr>
              <a:t>Features: </a:t>
            </a:r>
            <a:endParaRPr lang="en-US" sz="2400"/>
          </a:p>
          <a:p>
            <a:r>
              <a:rPr lang="en-US" sz="2400" i="0">
                <a:ea typeface="+mj-lt"/>
                <a:cs typeface="+mj-lt"/>
              </a:rPr>
              <a:t>RAM, Memory, Battery </a:t>
            </a:r>
            <a:endParaRPr lang="en-US" sz="2400"/>
          </a:p>
          <a:p>
            <a:r>
              <a:rPr lang="en-US" sz="2400" i="0">
                <a:ea typeface="+mj-lt"/>
                <a:cs typeface="+mj-lt"/>
              </a:rPr>
              <a:t>Processor, AI Lens </a:t>
            </a:r>
            <a:endParaRPr lang="en-US" sz="2400"/>
          </a:p>
          <a:p>
            <a:r>
              <a:rPr lang="en-US" sz="2400" i="0">
                <a:ea typeface="+mj-lt"/>
                <a:cs typeface="+mj-lt"/>
              </a:rPr>
              <a:t>Mobile Height </a:t>
            </a:r>
            <a:endParaRPr lang="en-US" sz="2400"/>
          </a:p>
          <a:p>
            <a:r>
              <a:rPr lang="en-US" sz="2400" i="0">
                <a:ea typeface="+mj-lt"/>
                <a:cs typeface="+mj-lt"/>
              </a:rPr>
              <a:t>Price (Target)</a:t>
            </a:r>
            <a:br>
              <a:rPr lang="en-US" sz="2400" i="0" dirty="0">
                <a:ea typeface="+mj-lt"/>
                <a:cs typeface="+mj-lt"/>
              </a:rPr>
            </a:br>
            <a:br>
              <a:rPr lang="en-US" sz="2400" i="0" dirty="0">
                <a:ea typeface="+mj-lt"/>
                <a:cs typeface="+mj-lt"/>
              </a:rPr>
            </a:br>
            <a:endParaRPr lang="en-US" sz="2400" i="0"/>
          </a:p>
          <a:p>
            <a:endParaRPr lang="en-US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B221B2-D879-C8C6-8964-884454E47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37644" y="168734"/>
            <a:ext cx="10671048" cy="822960"/>
          </a:xfrm>
        </p:spPr>
        <p:txBody>
          <a:bodyPr>
            <a:normAutofit/>
          </a:bodyPr>
          <a:lstStyle/>
          <a:p>
            <a:pPr algn="ctr"/>
            <a:r>
              <a:rPr lang="en-US" sz="2800" b="1"/>
              <a:t>Dataset Overview</a:t>
            </a:r>
            <a:endParaRPr lang="en-US"/>
          </a:p>
        </p:txBody>
      </p:sp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86BCC769-080D-C568-1405-A56AE93C8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38" y="3891552"/>
            <a:ext cx="12192000" cy="265043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853886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ABA3D-F597-E4DA-7F08-8CFE79436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4490" y="227350"/>
            <a:ext cx="10671048" cy="822960"/>
          </a:xfrm>
        </p:spPr>
        <p:txBody>
          <a:bodyPr>
            <a:normAutofit/>
          </a:bodyPr>
          <a:lstStyle/>
          <a:p>
            <a:pPr algn="ctr"/>
            <a:r>
              <a:rPr lang="en-US" sz="2800" b="1" i="0">
                <a:ea typeface="+mn-lt"/>
                <a:cs typeface="+mn-lt"/>
              </a:rPr>
              <a:t>Data Exploration</a:t>
            </a:r>
            <a:endParaRPr lang="en-US" sz="2800" b="1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077EF8F-863C-556A-4424-AD9A3E7B7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62" y="848562"/>
            <a:ext cx="10849429" cy="2766021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8148D4-4231-9DCE-8C6B-2EA5C1365C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95" y="3859504"/>
            <a:ext cx="10692191" cy="2791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273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3349E0-033C-A9F6-5F26-2F741950E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315273"/>
            <a:ext cx="10671048" cy="822960"/>
          </a:xfrm>
        </p:spPr>
        <p:txBody>
          <a:bodyPr>
            <a:normAutofit/>
          </a:bodyPr>
          <a:lstStyle/>
          <a:p>
            <a:pPr algn="ctr"/>
            <a:r>
              <a:rPr lang="en-US" sz="2800" b="1" i="0">
                <a:ea typeface="+mn-lt"/>
                <a:cs typeface="+mn-lt"/>
              </a:rPr>
              <a:t>Data Preprocessing</a:t>
            </a:r>
            <a:endParaRPr lang="en-US" sz="2800" b="1"/>
          </a:p>
        </p:txBody>
      </p:sp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F4273EC7-FBCA-9414-6E84-369C80A47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95" y="1142003"/>
            <a:ext cx="11163905" cy="521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670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603B5-DF5C-061B-2399-5A3BE6283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216650"/>
            <a:ext cx="10671048" cy="822960"/>
          </a:xfrm>
        </p:spPr>
        <p:txBody>
          <a:bodyPr/>
          <a:lstStyle/>
          <a:p>
            <a:pPr algn="ctr"/>
            <a:r>
              <a:rPr lang="en-US" b="1"/>
              <a:t>Heatmap </a:t>
            </a:r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4DEB878-C4C0-B1B5-4979-BD440E735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82" y="1423610"/>
            <a:ext cx="11138604" cy="4991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851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CF02A-14E8-D4E4-C3E0-B87938B11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168269"/>
            <a:ext cx="10671048" cy="822960"/>
          </a:xfrm>
        </p:spPr>
        <p:txBody>
          <a:bodyPr>
            <a:normAutofit/>
          </a:bodyPr>
          <a:lstStyle/>
          <a:p>
            <a:pPr algn="ctr"/>
            <a:r>
              <a:rPr lang="en-US" sz="2400" b="1"/>
              <a:t>Train Test Split</a:t>
            </a:r>
            <a:endParaRPr lang="en-US"/>
          </a:p>
        </p:txBody>
      </p:sp>
      <p:pic>
        <p:nvPicPr>
          <p:cNvPr id="5" name="Picture 4" descr="A screenshot of a computer program">
            <a:extLst>
              <a:ext uri="{FF2B5EF4-FFF2-40B4-BE49-F238E27FC236}">
                <a16:creationId xmlns:a16="http://schemas.microsoft.com/office/drawing/2014/main" id="{1116F74F-48EE-3473-FEE2-6306440E4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30" y="1359775"/>
            <a:ext cx="11663532" cy="4994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507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DE58CA-5C94-8576-EADC-67CA2268C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260" y="198042"/>
            <a:ext cx="10671048" cy="822960"/>
          </a:xfrm>
        </p:spPr>
        <p:txBody>
          <a:bodyPr>
            <a:normAutofit/>
          </a:bodyPr>
          <a:lstStyle/>
          <a:p>
            <a:pPr algn="ctr"/>
            <a:r>
              <a:rPr lang="en-US" sz="2400" b="1"/>
              <a:t>FEATURE IMPORTANCE </a:t>
            </a:r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A8B8CB-392B-37DA-51C3-DF6579FA8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450" y="1987487"/>
            <a:ext cx="10873620" cy="331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755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F1C9F-6DDF-6D32-2BAB-D682C8665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414" y="198042"/>
            <a:ext cx="10671048" cy="822960"/>
          </a:xfrm>
        </p:spPr>
        <p:txBody>
          <a:bodyPr>
            <a:normAutofit/>
          </a:bodyPr>
          <a:lstStyle/>
          <a:p>
            <a:pPr algn="ctr"/>
            <a:r>
              <a:rPr lang="en-US" sz="2400" b="1"/>
              <a:t>TOP 10 IMPORTANT FEATURES </a:t>
            </a:r>
            <a:endParaRPr lang="en-US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88307105-924B-CF84-A59E-F21BD927C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857" y="1237768"/>
            <a:ext cx="10135810" cy="5096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515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46CF6-5541-C160-1223-81FF67BD2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5414" y="246888"/>
            <a:ext cx="10671048" cy="822960"/>
          </a:xfrm>
        </p:spPr>
        <p:txBody>
          <a:bodyPr>
            <a:normAutofit/>
          </a:bodyPr>
          <a:lstStyle/>
          <a:p>
            <a:pPr algn="ctr"/>
            <a:r>
              <a:rPr lang="en-US" sz="2400" b="1"/>
              <a:t>COMPARING MULTIPLE MODELS </a:t>
            </a:r>
            <a:endParaRPr lang="en-US" b="1"/>
          </a:p>
        </p:txBody>
      </p:sp>
      <p:pic>
        <p:nvPicPr>
          <p:cNvPr id="6" name="Picture 5" descr="A screenshot of a computer">
            <a:extLst>
              <a:ext uri="{FF2B5EF4-FFF2-40B4-BE49-F238E27FC236}">
                <a16:creationId xmlns:a16="http://schemas.microsoft.com/office/drawing/2014/main" id="{CED9225E-1886-3039-9F0E-31797995F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1509713"/>
            <a:ext cx="11753850" cy="467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351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75AE49-AAAF-859A-B356-F22E28A32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398078"/>
            <a:ext cx="10671048" cy="822960"/>
          </a:xfrm>
        </p:spPr>
        <p:txBody>
          <a:bodyPr>
            <a:normAutofit/>
          </a:bodyPr>
          <a:lstStyle/>
          <a:p>
            <a:pPr algn="ctr"/>
            <a:r>
              <a:rPr lang="en-US" sz="2400" b="1" i="0">
                <a:ea typeface="+mn-lt"/>
                <a:cs typeface="+mn-lt"/>
              </a:rPr>
              <a:t>How much each feature contributes to predicting Price</a:t>
            </a:r>
            <a:endParaRPr lang="en-US" sz="2400" b="1"/>
          </a:p>
        </p:txBody>
      </p:sp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4D2117A8-AE8D-5F50-9D8E-796E57FB9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6480"/>
            <a:ext cx="12192000" cy="35886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730C04-3F1B-3B4F-449E-9DD890B5E5AF}"/>
              </a:ext>
            </a:extLst>
          </p:cNvPr>
          <p:cNvSpPr txBox="1"/>
          <p:nvPr/>
        </p:nvSpPr>
        <p:spPr>
          <a:xfrm>
            <a:off x="246736" y="5181457"/>
            <a:ext cx="1122649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Top 3 Features Responsible in Driving Price -:</a:t>
            </a:r>
          </a:p>
          <a:p>
            <a:r>
              <a:rPr lang="en-US"/>
              <a:t>1.Memory</a:t>
            </a:r>
          </a:p>
          <a:p>
            <a:r>
              <a:rPr lang="en-US"/>
              <a:t>2.RAM</a:t>
            </a:r>
          </a:p>
          <a:p>
            <a:r>
              <a:rPr lang="en-US"/>
              <a:t>3.Battery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501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442B30-D905-FA8A-AB49-AAF0899C5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7523" y="228745"/>
            <a:ext cx="10671048" cy="822960"/>
          </a:xfrm>
        </p:spPr>
        <p:txBody>
          <a:bodyPr/>
          <a:lstStyle/>
          <a:p>
            <a:pPr algn="ctr"/>
            <a:r>
              <a:rPr lang="en-US" sz="2400" b="1" i="0">
                <a:ea typeface="+mn-lt"/>
                <a:cs typeface="+mn-lt"/>
              </a:rPr>
              <a:t>Model Performance Comparison</a:t>
            </a:r>
            <a:endParaRPr lang="en-US" sz="2400"/>
          </a:p>
          <a:p>
            <a:endParaRPr lang="en-US" dirty="0"/>
          </a:p>
        </p:txBody>
      </p:sp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16B62098-49D9-B2BA-06E1-C565BCB35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998" y="645378"/>
            <a:ext cx="9606039" cy="49522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700B1A-D347-1F4C-83FE-AC519D6C0674}"/>
              </a:ext>
            </a:extLst>
          </p:cNvPr>
          <p:cNvSpPr txBox="1"/>
          <p:nvPr/>
        </p:nvSpPr>
        <p:spPr>
          <a:xfrm>
            <a:off x="352245" y="5676563"/>
            <a:ext cx="1039122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This slide compares the performance of different models using MAE to identify the most accurate model.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075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BB8DAD-5B71-27A9-B8D6-6B34C1596A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8147" y="237595"/>
            <a:ext cx="10671048" cy="822960"/>
          </a:xfrm>
        </p:spPr>
        <p:txBody>
          <a:bodyPr>
            <a:normAutofit/>
          </a:bodyPr>
          <a:lstStyle/>
          <a:p>
            <a:pPr algn="ctr"/>
            <a:r>
              <a:rPr lang="en-US" sz="2400" b="1"/>
              <a:t>RECOMMENDATIONS 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239FD2-129F-E452-0DD4-F9A8D5DF0F88}"/>
              </a:ext>
            </a:extLst>
          </p:cNvPr>
          <p:cNvSpPr txBox="1"/>
          <p:nvPr/>
        </p:nvSpPr>
        <p:spPr>
          <a:xfrm>
            <a:off x="447080" y="1693485"/>
            <a:ext cx="10960238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Increase focus on RAM &amp; Memory in premium phones </a:t>
            </a:r>
            <a:endParaRPr lang="en-US" sz="2400"/>
          </a:p>
          <a:p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Performance Score strongly impacts pricing</a:t>
            </a:r>
          </a:p>
          <a:p>
            <a:endParaRPr lang="en-US" sz="2400" dirty="0"/>
          </a:p>
          <a:p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Processor type also influences price</a:t>
            </a:r>
            <a:endParaRPr lang="en-US" sz="24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767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9387E-2005-C71B-35FA-2FBC79F04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i="0" dirty="0">
                <a:ea typeface="+mj-lt"/>
                <a:cs typeface="+mj-lt"/>
              </a:rPr>
              <a:t>This project demonstrates end-to-end machine learning pipeline including data cleaning, feature engineering, model evaluation, and business recommendations.</a:t>
            </a:r>
            <a:br>
              <a:rPr lang="en-US" sz="2400" b="1" i="0" dirty="0">
                <a:ea typeface="+mj-lt"/>
                <a:cs typeface="+mj-lt"/>
              </a:rPr>
            </a:br>
            <a:br>
              <a:rPr lang="en-US" sz="2400" b="1" i="0" dirty="0">
                <a:ea typeface="+mj-lt"/>
                <a:cs typeface="+mj-lt"/>
              </a:rPr>
            </a:br>
            <a:r>
              <a:rPr lang="en-US" sz="2400" b="1" i="0" dirty="0">
                <a:ea typeface="+mj-lt"/>
                <a:cs typeface="+mj-lt"/>
              </a:rPr>
              <a:t>Random Forest is the most effective model for this dataset .</a:t>
            </a:r>
            <a:endParaRPr lang="en-US" sz="2400" b="1" i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80D6B8-B1B4-3939-E5F9-C7BC83CF6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1490" y="520426"/>
            <a:ext cx="10671048" cy="822960"/>
          </a:xfrm>
        </p:spPr>
        <p:txBody>
          <a:bodyPr>
            <a:normAutofit/>
          </a:bodyPr>
          <a:lstStyle/>
          <a:p>
            <a:pPr algn="ctr"/>
            <a:r>
              <a:rPr lang="en-US" sz="2400" b="1"/>
              <a:t>CONCLUSION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288761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FCC6E86-7C37-4FD2-AF0B-C9BDDBC2B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-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Modern Thank You Slide Template for PowerPoint">
            <a:extLst>
              <a:ext uri="{FF2B5EF4-FFF2-40B4-BE49-F238E27FC236}">
                <a16:creationId xmlns:a16="http://schemas.microsoft.com/office/drawing/2014/main" id="{4FECA6C5-8DC8-18CD-2346-5FAAD5BB27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1" y="1"/>
            <a:ext cx="12191998" cy="6857999"/>
          </a:xfrm>
          <a:prstGeom prst="rect">
            <a:avLst/>
          </a:prstGeom>
        </p:spPr>
      </p:pic>
      <p:sp>
        <p:nvSpPr>
          <p:cNvPr id="9" name="Freeform 6">
            <a:extLst>
              <a:ext uri="{FF2B5EF4-FFF2-40B4-BE49-F238E27FC236}">
                <a16:creationId xmlns:a16="http://schemas.microsoft.com/office/drawing/2014/main" id="{38C2FC07-A260-43C5-ABA2-A9DD5D5A8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4961540"/>
      </p:ext>
    </p:extLst>
  </p:cSld>
  <p:clrMapOvr>
    <a:masterClrMapping/>
  </p:clrMapOvr>
</p:sld>
</file>

<file path=ppt/theme/theme1.xml><?xml version="1.0" encoding="utf-8"?>
<a:theme xmlns:a="http://schemas.openxmlformats.org/drawingml/2006/main" name="HeadlinesVTI">
  <a:themeElements>
    <a:clrScheme name="Headlines">
      <a:dk1>
        <a:sysClr val="windowText" lastClr="000000"/>
      </a:dk1>
      <a:lt1>
        <a:sysClr val="window" lastClr="FFFFFF"/>
      </a:lt1>
      <a:dk2>
        <a:srgbClr val="232C41"/>
      </a:dk2>
      <a:lt2>
        <a:srgbClr val="F6F4EF"/>
      </a:lt2>
      <a:accent1>
        <a:srgbClr val="439EB7"/>
      </a:accent1>
      <a:accent2>
        <a:srgbClr val="E20E65"/>
      </a:accent2>
      <a:accent3>
        <a:srgbClr val="F59324"/>
      </a:accent3>
      <a:accent4>
        <a:srgbClr val="5046B9"/>
      </a:accent4>
      <a:accent5>
        <a:srgbClr val="5CB678"/>
      </a:accent5>
      <a:accent6>
        <a:srgbClr val="9717F7"/>
      </a:accent6>
      <a:hlink>
        <a:srgbClr val="E80095"/>
      </a:hlink>
      <a:folHlink>
        <a:srgbClr val="808080"/>
      </a:folHlink>
    </a:clrScheme>
    <a:fontScheme name="Custom 211">
      <a:majorFont>
        <a:latin typeface="Sitka Banner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8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6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VTI" id="{66EB4A02-0C0F-47F1-9F48-4E6882B9F967}" vid="{F3552358-4452-4FDA-9568-4F5DA32F7A6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BC688CB-CD41-412D-8E6B-F14E13D0EA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2432528-3B37-4D02-824C-AED8B98277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0FEC98-8858-408D-B2FD-DF30EA7BAFC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</Words>
  <Application>Microsoft Office PowerPoint</Application>
  <PresentationFormat>Widescreen</PresentationFormat>
  <Paragraphs>2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HeadlinesVTI</vt:lpstr>
      <vt:lpstr>Mobile Price Prediction Project</vt:lpstr>
      <vt:lpstr>Predict mobile phone prices using ML models   Identify key features affecting price    Help company improve pricing strategy </vt:lpstr>
      <vt:lpstr>Total records: 541  Features:  RAM, Memory, Battery  Processor, AI Lens  Mobile Height  Price (Target)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This project demonstrates end-to-end machine learning pipeline including data cleaning, feature engineering, model evaluation, and business recommendations.  Random Forest is the most effective model for this dataset 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168</cp:revision>
  <dcterms:created xsi:type="dcterms:W3CDTF">2026-03-29T05:09:15Z</dcterms:created>
  <dcterms:modified xsi:type="dcterms:W3CDTF">2026-03-29T06:12:37Z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